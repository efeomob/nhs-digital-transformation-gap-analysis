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0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3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5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4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2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4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92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10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33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3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50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98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83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68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50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5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2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7199038" cy="1148590"/>
          </a:xfrm>
        </p:spPr>
        <p:txBody>
          <a:bodyPr>
            <a:noAutofit/>
          </a:bodyPr>
          <a:lstStyle/>
          <a:p>
            <a:pPr algn="ctr"/>
            <a:r>
              <a:rPr sz="2400" dirty="0"/>
              <a:t>Gap Analysis – NHS Digital Transformation</a:t>
            </a:r>
            <a:r>
              <a:rPr lang="en-GB" sz="2400" dirty="0"/>
              <a:t> By </a:t>
            </a:r>
            <a:r>
              <a:rPr lang="en-GB" sz="2400" b="1" dirty="0"/>
              <a:t>EFEOMO ASEKHAME</a:t>
            </a:r>
            <a:endParaRPr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Overview of the NHS digital transformation initiative</a:t>
            </a:r>
          </a:p>
          <a:p>
            <a:pPr lvl="1"/>
            <a:r>
              <a:rPr dirty="0"/>
              <a:t>Key gaps between current and future state</a:t>
            </a:r>
          </a:p>
          <a:p>
            <a:pPr lvl="1"/>
            <a:r>
              <a:rPr dirty="0"/>
              <a:t>Tools used: Fishbone, SWOT, PESTLE, McKinsey 7S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The National Health Service (NHS)in the UK is undergoing ongoing digital</a:t>
            </a:r>
          </a:p>
          <a:p>
            <a:pPr marL="0" indent="0">
              <a:buNone/>
            </a:pPr>
            <a:r>
              <a:rPr lang="en-US" dirty="0"/>
              <a:t>transformation efforts to improve patient care, streamline services, and</a:t>
            </a:r>
          </a:p>
          <a:p>
            <a:pPr marL="0" indent="0">
              <a:buNone/>
            </a:pPr>
            <a:r>
              <a:rPr lang="en-US" dirty="0"/>
              <a:t>enhance data sharing across its complex network of trusts, hospitals, and</a:t>
            </a:r>
          </a:p>
          <a:p>
            <a:pPr marL="0" indent="0">
              <a:buNone/>
            </a:pPr>
            <a:r>
              <a:rPr lang="en-US" dirty="0"/>
              <a:t>clinics.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However, significant gaps exist between the current state of service delivery</a:t>
            </a:r>
          </a:p>
          <a:p>
            <a:pPr marL="0" indent="0">
              <a:buNone/>
            </a:pPr>
            <a:r>
              <a:rPr lang="en-US" dirty="0"/>
              <a:t>and the future state envisioned in their "Digital First" strategy.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 a Business Analyst, you are tasked with facilitating a gap analysis to</a:t>
            </a:r>
          </a:p>
          <a:p>
            <a:pPr marL="0" indent="0">
              <a:buNone/>
            </a:pPr>
            <a:r>
              <a:rPr lang="en-US" dirty="0"/>
              <a:t>identify where the NHS is falling short and what actions need to be taken to</a:t>
            </a:r>
          </a:p>
          <a:p>
            <a:pPr marL="0" indent="0">
              <a:buNone/>
            </a:pPr>
            <a:r>
              <a:rPr lang="en-US" dirty="0"/>
              <a:t>bridge the gap..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Despite heavy investment in digital technologies, the NHS still faces: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Long patient wait times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Poor integration between systems (e.g., GP and hospital records)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Low patient engagement with digital services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Siloed departments. This has led to inefficiencies.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issues prevent the NHS from realizing its goal of a connected,</a:t>
            </a:r>
          </a:p>
          <a:p>
            <a:pPr marL="0" indent="0">
              <a:buNone/>
            </a:pPr>
            <a:r>
              <a:rPr lang="en-US" dirty="0"/>
              <a:t>patient-first digital healthcare system.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Identify the key gaps between current processes and future-state</a:t>
            </a:r>
          </a:p>
          <a:p>
            <a:pPr marL="0" indent="0">
              <a:buNone/>
            </a:pPr>
            <a:r>
              <a:rPr lang="en-US" dirty="0"/>
              <a:t>goals.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Understand stakeholder pain points (clinicians, patients,</a:t>
            </a:r>
          </a:p>
          <a:p>
            <a:pPr marL="0" indent="0">
              <a:buNone/>
            </a:pPr>
            <a:r>
              <a:rPr lang="en-US" dirty="0"/>
              <a:t>administrators).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Provide actionable recommendations to bridge the identified</a:t>
            </a:r>
          </a:p>
          <a:p>
            <a:pPr marL="0" indent="0">
              <a:buNone/>
            </a:pPr>
            <a:r>
              <a:rPr lang="en-US" dirty="0"/>
              <a:t>gaps.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Support the NHS’s digital transformation roadmap.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Rationale for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2814638"/>
            <a:ext cx="8229600" cy="4708525"/>
          </a:xfrm>
        </p:spPr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/>
              <a:t>Improve customer experience</a:t>
            </a:r>
            <a:r>
              <a:rPr lang="en-GB" dirty="0"/>
              <a:t>: Patient satisfaction is declining due to slow service and fragmented care.</a:t>
            </a:r>
            <a:endParaRPr dirty="0"/>
          </a:p>
          <a:p>
            <a:pPr lvl="1"/>
            <a:r>
              <a:rPr dirty="0"/>
              <a:t>Increase operational efficiency</a:t>
            </a:r>
            <a:r>
              <a:rPr lang="en-GB" dirty="0"/>
              <a:t>: automate processes to reduce manual work, errors and free up staff.</a:t>
            </a:r>
            <a:endParaRPr dirty="0"/>
          </a:p>
          <a:p>
            <a:pPr lvl="1"/>
            <a:r>
              <a:rPr dirty="0"/>
              <a:t>Enable data-driven decisions</a:t>
            </a:r>
            <a:r>
              <a:rPr lang="en-GB" dirty="0"/>
              <a:t>: A clear gap analysis will help the NHS prioritize improvements in technology, processes, and personnel.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/>
              <a:t>Initiation: identify stakeholders</a:t>
            </a:r>
            <a:r>
              <a:rPr lang="en-GB" dirty="0"/>
              <a:t>, Define current state scope.</a:t>
            </a:r>
            <a:endParaRPr dirty="0"/>
          </a:p>
          <a:p>
            <a:pPr lvl="1"/>
            <a:r>
              <a:rPr dirty="0"/>
              <a:t>Current State</a:t>
            </a:r>
            <a:r>
              <a:rPr lang="en-GB" dirty="0"/>
              <a:t> Analysis</a:t>
            </a:r>
            <a:r>
              <a:rPr dirty="0"/>
              <a:t>: map workflows &amp; systems</a:t>
            </a:r>
            <a:r>
              <a:rPr lang="en-GB" dirty="0"/>
              <a:t>, Identify existing systems.</a:t>
            </a:r>
            <a:endParaRPr dirty="0"/>
          </a:p>
          <a:p>
            <a:pPr lvl="1"/>
            <a:r>
              <a:rPr dirty="0"/>
              <a:t>Future State</a:t>
            </a:r>
            <a:r>
              <a:rPr lang="en-GB" dirty="0"/>
              <a:t> Desired State</a:t>
            </a:r>
            <a:r>
              <a:rPr dirty="0"/>
              <a:t>:</a:t>
            </a:r>
            <a:r>
              <a:rPr lang="en-GB" dirty="0"/>
              <a:t> define desired outcomes</a:t>
            </a:r>
            <a:endParaRPr dirty="0"/>
          </a:p>
          <a:p>
            <a:pPr lvl="1"/>
            <a:r>
              <a:rPr dirty="0"/>
              <a:t>Gap Identification: analyze people/process/tech gaps</a:t>
            </a:r>
          </a:p>
          <a:p>
            <a:pPr lvl="1"/>
            <a:r>
              <a:rPr dirty="0"/>
              <a:t>Recommendations: actions to bridge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 lvl="1"/>
            <a:r>
              <a:rPr lang="en-US" dirty="0"/>
              <a:t>1. Using fishbone, identify the root cause of the issue encountered by the company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2. Carry out a swot analysis for this company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3. What are the macroeconomic factors that can affect the NHS and its need to resolve the issue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4. For this case study, analyze the organizational design using McKinsey’s 7S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5. What solution do you recommend for the company?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Fishbone 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/>
              <a:t>Categories: People, Process, Technology, Environment</a:t>
            </a:r>
          </a:p>
          <a:p>
            <a:pPr lvl="1"/>
            <a:r>
              <a:rPr dirty="0"/>
              <a:t>People: Low digital literacy among staff</a:t>
            </a:r>
          </a:p>
          <a:p>
            <a:pPr lvl="1"/>
            <a:r>
              <a:rPr dirty="0"/>
              <a:t>Process: Manual referrals &amp; paper-based workflows</a:t>
            </a:r>
          </a:p>
          <a:p>
            <a:pPr lvl="1"/>
            <a:r>
              <a:rPr dirty="0"/>
              <a:t>Technology: Poor system integration GP ↔ Hospitals</a:t>
            </a:r>
          </a:p>
          <a:p>
            <a:pPr lvl="1"/>
            <a:r>
              <a:rPr dirty="0"/>
              <a:t>Environment: High patient volumes, ageing population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C48666-357F-C682-89D2-7CB6EF770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479263"/>
              </p:ext>
            </p:extLst>
          </p:nvPr>
        </p:nvGraphicFramePr>
        <p:xfrm>
          <a:off x="457200" y="736878"/>
          <a:ext cx="8229600" cy="615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5924">
                <a:tc>
                  <a:txBody>
                    <a:bodyPr/>
                    <a:lstStyle/>
                    <a:p>
                      <a:r>
                        <a:rPr dirty="0"/>
                        <a:t>Strengths</a:t>
                      </a:r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b="0" dirty="0"/>
                        <a:t>- Strong </a:t>
                      </a:r>
                      <a:r>
                        <a:rPr lang="en-GB" b="0" dirty="0"/>
                        <a:t>national brand and public trust</a:t>
                      </a:r>
                      <a:endParaRPr b="0" dirty="0"/>
                    </a:p>
                    <a:p>
                      <a:r>
                        <a:rPr lang="en-GB" b="0" dirty="0"/>
                        <a:t>- Heavy investment in digital technologies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b="0" dirty="0"/>
                        <a:t>- Existing digital platforms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b="0" dirty="0"/>
                        <a:t>- Highly skilled and dedicated workforce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b="0" dirty="0"/>
                        <a:t>- No competition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b="0" dirty="0"/>
                        <a:t>- UK’s largest employer</a:t>
                      </a: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Weaknesses</a:t>
                      </a:r>
                    </a:p>
                    <a:p>
                      <a:endParaRPr lang="en-GB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b="0" dirty="0"/>
                        <a:t>Low digital literacy in some staff groups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b="0" dirty="0"/>
                        <a:t>Manual, paper – heavy processes still widely used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b="0" dirty="0"/>
                        <a:t>Poor integration between GP, hospital, Community, and social care systems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b="0" dirty="0"/>
                        <a:t>Long wait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5924">
                <a:tc>
                  <a:txBody>
                    <a:bodyPr/>
                    <a:lstStyle/>
                    <a:p>
                      <a:r>
                        <a:rPr b="1" dirty="0"/>
                        <a:t>Opportunities</a:t>
                      </a:r>
                      <a:endParaRPr lang="en-GB" b="1" dirty="0"/>
                    </a:p>
                    <a:p>
                      <a:endParaRPr dirty="0"/>
                    </a:p>
                    <a:p>
                      <a:pPr algn="l"/>
                      <a:r>
                        <a:rPr lang="en-GB" dirty="0"/>
                        <a:t>-    Population Health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Partnerships with private sector and other bodies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Government Policies &amp; funding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dirty="0"/>
                        <a:t>Innovation &amp; Modernisation including remote monitoring, Virtual wards, telehealth etc.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Threats</a:t>
                      </a:r>
                      <a:endParaRPr lang="en-GB" b="1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Operational issues like emergency pressures, disruption in supply of medication &amp; equipment.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Technology &amp; Security issues like cybersecurity risks.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Declining public satisfaction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600" dirty="0"/>
                        <a:t>Demographic &amp; Social challenges like rise in diseases, ageing population etc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600" dirty="0"/>
                        <a:t>Economic &amp; Political issues like inflation, policy change and so 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513C48-AFF9-A998-6946-E8527E1BD549}"/>
              </a:ext>
            </a:extLst>
          </p:cNvPr>
          <p:cNvSpPr txBox="1"/>
          <p:nvPr/>
        </p:nvSpPr>
        <p:spPr>
          <a:xfrm>
            <a:off x="2942922" y="50046"/>
            <a:ext cx="300415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SWOT Analysis – Visual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PESTLE Analysis (Macroeconomic Factors)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 lvl="1"/>
            <a:r>
              <a:t>Political: Healthcare policies &amp; NHS reforms</a:t>
            </a:r>
          </a:p>
          <a:p>
            <a:pPr lvl="1"/>
            <a:r>
              <a:t>Economic: Budget pressure &amp; rising healthcare costs</a:t>
            </a:r>
          </a:p>
          <a:p>
            <a:pPr lvl="1"/>
            <a:r>
              <a:t>Sociocultural: Ageing population, digital adoption gaps</a:t>
            </a:r>
          </a:p>
          <a:p>
            <a:pPr lvl="1"/>
            <a:r>
              <a:t>Technological: Need for integration &amp; modernisation</a:t>
            </a:r>
          </a:p>
          <a:p>
            <a:pPr lvl="1"/>
            <a:r>
              <a:t>Legal: Data privacy requirements (GDPR)</a:t>
            </a:r>
          </a:p>
          <a:p>
            <a:pPr lvl="1"/>
            <a:r>
              <a:t>Environmental: Sustainability in healthcare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McKinsey 7S Organizational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/>
              <a:t>Strategy: Digital-first care strategy</a:t>
            </a:r>
          </a:p>
          <a:p>
            <a:pPr lvl="1"/>
            <a:r>
              <a:rPr dirty="0"/>
              <a:t>Structure: Multiple trusts → fragmented workflows</a:t>
            </a:r>
          </a:p>
          <a:p>
            <a:pPr lvl="1"/>
            <a:r>
              <a:rPr dirty="0"/>
              <a:t>Systems:</a:t>
            </a:r>
            <a:r>
              <a:rPr lang="en-GB" dirty="0"/>
              <a:t> Inconsistent systems and processes</a:t>
            </a:r>
            <a:endParaRPr dirty="0"/>
          </a:p>
          <a:p>
            <a:pPr lvl="1"/>
            <a:r>
              <a:rPr dirty="0"/>
              <a:t>Shared Values: Patient-first healthcare</a:t>
            </a:r>
          </a:p>
          <a:p>
            <a:pPr lvl="1"/>
            <a:r>
              <a:rPr dirty="0"/>
              <a:t>Skills: Staff need digital training</a:t>
            </a:r>
          </a:p>
          <a:p>
            <a:pPr lvl="1"/>
            <a:r>
              <a:rPr dirty="0"/>
              <a:t>Style: Traditional structures resistant to change</a:t>
            </a:r>
          </a:p>
          <a:p>
            <a:pPr lvl="1"/>
            <a:r>
              <a:rPr dirty="0"/>
              <a:t>Staff: Overworked workforce, limited time for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Implement unified digital patient record system</a:t>
            </a:r>
          </a:p>
          <a:p>
            <a:pPr lvl="1"/>
            <a:r>
              <a:rPr dirty="0"/>
              <a:t>Automate GP-to-hospital referrals</a:t>
            </a:r>
          </a:p>
          <a:p>
            <a:pPr lvl="1"/>
            <a:r>
              <a:rPr dirty="0"/>
              <a:t>Train clinicians on digital tools</a:t>
            </a:r>
          </a:p>
          <a:p>
            <a:pPr lvl="1"/>
            <a:r>
              <a:rPr dirty="0"/>
              <a:t>Increase patient awareness of digital services</a:t>
            </a:r>
          </a:p>
          <a:p>
            <a:pPr lvl="1"/>
            <a:r>
              <a:rPr dirty="0"/>
              <a:t>Adopt cloud-based infrastructure</a:t>
            </a:r>
            <a:endParaRPr lang="en-GB" dirty="0"/>
          </a:p>
          <a:p>
            <a:pPr lvl="1"/>
            <a:r>
              <a:rPr lang="en-GB" dirty="0"/>
              <a:t>Leverage robotic process automation and AI</a:t>
            </a:r>
          </a:p>
          <a:p>
            <a:pPr lvl="1"/>
            <a:r>
              <a:rPr lang="en-GB" dirty="0"/>
              <a:t>Expand remote monitoring and virtual wards</a:t>
            </a:r>
          </a:p>
          <a:p>
            <a:pPr lvl="1"/>
            <a:r>
              <a:rPr lang="en-GB" dirty="0"/>
              <a:t>Promote patient–initiated follow-ups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285</TotalTime>
  <Words>757</Words>
  <Application>Microsoft Office PowerPoint</Application>
  <PresentationFormat>On-screen Show (4:3)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Gap Analysis – NHS Digital Transformation By EFEOMO ASEKHAME</vt:lpstr>
      <vt:lpstr>Case Study Overview</vt:lpstr>
      <vt:lpstr>Problem Statement</vt:lpstr>
      <vt:lpstr>Business Objectives</vt:lpstr>
      <vt:lpstr>Rationale for the Project</vt:lpstr>
      <vt:lpstr>Project Workflow</vt:lpstr>
      <vt:lpstr>Key Business Questions</vt:lpstr>
      <vt:lpstr>Fishbone Root Cause Analysis</vt:lpstr>
      <vt:lpstr>PowerPoint Presentation</vt:lpstr>
      <vt:lpstr>PESTLE Analysis (Macroeconomic Factors)</vt:lpstr>
      <vt:lpstr>McKinsey 7S Organizational Analysis</vt:lpstr>
      <vt:lpstr>Recommended Solutions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Efeomo Asekhame</cp:lastModifiedBy>
  <cp:revision>4</cp:revision>
  <dcterms:created xsi:type="dcterms:W3CDTF">2013-01-27T09:14:16Z</dcterms:created>
  <dcterms:modified xsi:type="dcterms:W3CDTF">2025-11-16T00:14:58Z</dcterms:modified>
  <cp:category/>
</cp:coreProperties>
</file>